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707" r:id="rId4"/>
    <p:sldId id="708" r:id="rId5"/>
    <p:sldId id="718" r:id="rId6"/>
    <p:sldId id="726" r:id="rId7"/>
    <p:sldId id="727" r:id="rId8"/>
    <p:sldId id="728" r:id="rId9"/>
    <p:sldId id="729" r:id="rId10"/>
    <p:sldId id="730" r:id="rId11"/>
    <p:sldId id="720" r:id="rId12"/>
    <p:sldId id="722" r:id="rId13"/>
    <p:sldId id="721" r:id="rId14"/>
    <p:sldId id="723" r:id="rId15"/>
    <p:sldId id="725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D7C"/>
    <a:srgbClr val="FFB9B9"/>
    <a:srgbClr val="FF9999"/>
    <a:srgbClr val="C5A1A1"/>
    <a:srgbClr val="566278"/>
    <a:srgbClr val="E9ECF6"/>
    <a:srgbClr val="E7E6E6"/>
    <a:srgbClr val="465676"/>
    <a:srgbClr val="660874"/>
    <a:srgbClr val="23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AC707-C6D4-4628-A346-9BF87FA2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AB7C7-3328-49BB-BD2F-DB79FFACF9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AFD3-226C-4AD1-81D3-914F96B71BF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7A5F-A4B3-4362-BE8D-BA1569AE06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3055-4828-4364-B940-2FF132750EA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7BEB1-0AEE-403F-9E1D-78EE431F6E2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CED5-268E-4A06-9E55-1A9F2431668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61E5-7CFB-4311-A502-AA1587593CF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8894-34A5-4F5F-92EA-1FA36FC7A6A9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F1BF5-9398-414C-91FB-C3C888B39B9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23BD-A7B1-476D-860A-25E04078B8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A9C4-15E9-41A0-9780-E8A948CE0B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60130-2EE8-42F1-AD07-00FCCAE2E84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307B6-21C6-4C2E-8D54-D2399DA67B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/>
          <a:srcRect t="36501" r="2120"/>
          <a:stretch>
            <a:fillRect/>
          </a:stretch>
        </p:blipFill>
        <p:spPr>
          <a:xfrm>
            <a:off x="-1270" y="0"/>
            <a:ext cx="12192000" cy="155100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l="21941" b="38925"/>
          <a:stretch>
            <a:fillRect/>
          </a:stretch>
        </p:blipFill>
        <p:spPr>
          <a:xfrm>
            <a:off x="-1" y="3759269"/>
            <a:ext cx="4915925" cy="311651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33985" y="0"/>
            <a:ext cx="1436370" cy="163322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96" b="-12969"/>
          <a:stretch>
            <a:fillRect/>
          </a:stretch>
        </p:blipFill>
        <p:spPr>
          <a:xfrm>
            <a:off x="-583773" y="-1081817"/>
            <a:ext cx="4865792" cy="1081817"/>
          </a:xfrm>
          <a:prstGeom prst="rect">
            <a:avLst/>
          </a:prstGeom>
        </p:spPr>
      </p:pic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97965" y="1448435"/>
            <a:ext cx="9131935" cy="240728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 sz="4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ScholarMind</a:t>
            </a:r>
            <a:r>
              <a:rPr lang="zh-CN" altLang="en-US" sz="4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4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科研文献调研与</a:t>
            </a:r>
            <a:r>
              <a:rPr lang="zh-CN" altLang="en-US" sz="4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整理系统</a:t>
            </a:r>
            <a:endParaRPr lang="en-US" altLang="zh-CN" sz="4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37472" y="3207207"/>
            <a:ext cx="9897397" cy="67004"/>
          </a:xfrm>
          <a:prstGeom prst="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170555" y="3590925"/>
          <a:ext cx="518985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680"/>
                <a:gridCol w="264160"/>
                <a:gridCol w="3803015"/>
              </a:tblGrid>
              <a:tr h="883920">
                <a:tc>
                  <a:txBody>
                    <a:bodyPr/>
                    <a:p>
                      <a:pPr algn="dist">
                        <a:lnSpc>
                          <a:spcPct val="130000"/>
                        </a:lnSpc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组员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dist">
                        <a:lnSpc>
                          <a:spcPct val="130000"/>
                        </a:lnSpc>
                      </a:pP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夏司恒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陈鹤鑫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刘惟琛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陈敬璇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dist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dist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53745" y="1856105"/>
            <a:ext cx="9975215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传统读论文流程割裂：搜索、筛选、下载、摘要、精读、知识整理都要手动完成。</a:t>
            </a:r>
            <a:endParaRPr lang="zh-CN" altLang="en-US" sz="28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28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28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ScholarMind </a:t>
            </a:r>
            <a:r>
              <a:rPr lang="zh-CN" altLang="en-US" sz="28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把这些步骤串成一个科研工作台，并根据用户画像推荐真正适合当前阶段阅读的论文。</a:t>
            </a:r>
            <a:endParaRPr lang="zh-CN" altLang="en-US" sz="28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0895" y="3196590"/>
            <a:ext cx="8090535" cy="623570"/>
            <a:chOff x="1179" y="1462"/>
            <a:chExt cx="12741" cy="982"/>
          </a:xfrm>
        </p:grpSpPr>
        <p:sp>
          <p:nvSpPr>
            <p:cNvPr id="3" name="矩形 2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价值：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系统通过选择题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用户输入构建研究画像，包括兴趣方向、当前目标、偏好论文类型和不感兴趣方向。推荐不只看关键词，还结合六因素评分：画像匹配、新颖性、论文重要性、来源信号、可行动性、近期性。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70" y="190500"/>
            <a:ext cx="9344025" cy="647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论文推荐</a:t>
              </a:r>
              <a:r>
                <a:rPr lang="en-US" altLang="zh-CN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-Agent 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规划执行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主页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Agent 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可以理解用户自然语言需求，并自动规划动作链：搜索论文、推荐论文、入库、下载、粗读、精读、生成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Wiki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。体现</a:t>
            </a:r>
            <a:r>
              <a:rPr lang="en-US" altLang="zh-CN" sz="3200" b="1">
                <a:solidFill>
                  <a:srgbClr val="092D7C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RAG+</a:t>
            </a:r>
            <a:r>
              <a:rPr lang="zh-CN" altLang="en-US" sz="3200" b="1">
                <a:solidFill>
                  <a:srgbClr val="092D7C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记忆</a:t>
            </a:r>
            <a:r>
              <a:rPr lang="en-US" altLang="zh-CN" sz="3200" b="1">
                <a:solidFill>
                  <a:srgbClr val="092D7C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3200" b="1">
                <a:solidFill>
                  <a:srgbClr val="092D7C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规划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能力。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展示：主页输入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请根据我的用户画像推荐论文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后的结果。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45" y="704850"/>
            <a:ext cx="8372475" cy="544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论文解析更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个性化、质量高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展示：根据用户画像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解析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20" y="276225"/>
            <a:ext cx="9001125" cy="6305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wiki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281940"/>
            <a:ext cx="5261610" cy="6486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840" y="420370"/>
            <a:ext cx="5545455" cy="621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dashboard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42875"/>
            <a:ext cx="9410700" cy="657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主题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统计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470" y="200025"/>
            <a:ext cx="9496425" cy="6457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会议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期刊识别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52400"/>
            <a:ext cx="6838950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软件质量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保障手段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2285" y="1113790"/>
            <a:ext cx="1155319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后端编译</a:t>
            </a:r>
            <a:endParaRPr lang="en-US" altLang="zh-CN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推荐服务单测</a:t>
            </a:r>
            <a:endParaRPr lang="en-US" altLang="zh-CN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前端生产构建</a:t>
            </a:r>
            <a:endParaRPr lang="en-US" altLang="zh-CN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Playwright smoke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（自动访问主要页面并检查网络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渲染错误）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分层策略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简单任务用轻量模型，复杂解析才用深度模型；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论文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PDF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、解析结果、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Wiki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、推荐队列均落库缓存；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批量任务后台执行，避免重复请求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软件开发成本控制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软件开发成本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926"/>
          <a:stretch>
            <a:fillRect/>
          </a:stretch>
        </p:blipFill>
        <p:spPr>
          <a:xfrm>
            <a:off x="248285" y="1065530"/>
            <a:ext cx="8272145" cy="42392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975" y="1065530"/>
            <a:ext cx="3629025" cy="141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可持续性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45" y="1637665"/>
            <a:ext cx="8401050" cy="482981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后端（图片）</a:t>
              </a:r>
              <a:r>
                <a:rPr lang="en-US" altLang="zh-CN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9EFA66-2FD7-4259-9652-B5E4E194FB0C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48665" y="948055"/>
            <a:ext cx="8090535" cy="623570"/>
            <a:chOff x="1179" y="1462"/>
            <a:chExt cx="12741" cy="982"/>
          </a:xfrm>
        </p:grpSpPr>
        <p:sp>
          <p:nvSpPr>
            <p:cNvPr id="7" name="矩形 6"/>
            <p:cNvSpPr/>
            <p:nvPr/>
          </p:nvSpPr>
          <p:spPr>
            <a:xfrm>
              <a:off x="1179" y="1462"/>
              <a:ext cx="208" cy="98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89" y="1462"/>
              <a:ext cx="1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分工（通过</a:t>
              </a:r>
              <a:r>
                <a:rPr lang="en-US" altLang="zh-CN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docs</a:t>
              </a:r>
              <a:r>
                <a:rPr lang="zh-CN" altLang="en-US" sz="32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同步）</a:t>
              </a:r>
              <a:endPara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9445" y="1602105"/>
            <a:ext cx="10377170" cy="246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夏司恒：前端页面与交互设计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React 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页面开发、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Wiki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、前后端接口联调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陈鹤鑫：后端与数据库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FastAPI 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接口、数据库设计、论文数据管理与任务流程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刘惟琛：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分析与算法模块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RAG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问答、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Embedding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检索、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GLM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粗读</a:t>
            </a: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精读流程实现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陈敬璇：系统整合与质量控制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92D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部署运行、任务调度、成本统计、测试验证与日志管理</a:t>
            </a: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1755" indent="0" algn="l" fontAlgn="auto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sz="3200" b="1">
              <a:solidFill>
                <a:srgbClr val="092D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" y="734060"/>
            <a:ext cx="11210290" cy="76200"/>
          </a:xfrm>
          <a:prstGeom prst="rect">
            <a:avLst/>
          </a:prstGeom>
          <a:gradFill>
            <a:gsLst>
              <a:gs pos="86000">
                <a:schemeClr val="tx2">
                  <a:lumMod val="20000"/>
                  <a:lumOff val="80000"/>
                </a:schemeClr>
              </a:gs>
              <a:gs pos="52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58" r="82184" b="20971"/>
          <a:stretch>
            <a:fillRect/>
          </a:stretch>
        </p:blipFill>
        <p:spPr>
          <a:xfrm>
            <a:off x="10228580" y="-85090"/>
            <a:ext cx="787400" cy="895350"/>
          </a:xfrm>
          <a:prstGeom prst="rect">
            <a:avLst/>
          </a:prstGeom>
        </p:spPr>
      </p:pic>
      <p:sp>
        <p:nvSpPr>
          <p:cNvPr id="21" name="箭头: 五边形 14"/>
          <p:cNvSpPr/>
          <p:nvPr/>
        </p:nvSpPr>
        <p:spPr>
          <a:xfrm>
            <a:off x="5842635" y="145415"/>
            <a:ext cx="2833370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箭头: 五边形 14"/>
          <p:cNvSpPr/>
          <p:nvPr/>
        </p:nvSpPr>
        <p:spPr>
          <a:xfrm>
            <a:off x="457581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箭头: 五边形 14"/>
          <p:cNvSpPr/>
          <p:nvPr/>
        </p:nvSpPr>
        <p:spPr>
          <a:xfrm>
            <a:off x="3036570" y="149225"/>
            <a:ext cx="2050415" cy="471170"/>
          </a:xfrm>
          <a:prstGeom prst="homePlate">
            <a:avLst/>
          </a:prstGeom>
          <a:solidFill>
            <a:srgbClr val="E7E6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箭头: 五边形 14"/>
          <p:cNvSpPr/>
          <p:nvPr/>
        </p:nvSpPr>
        <p:spPr>
          <a:xfrm>
            <a:off x="502285" y="105410"/>
            <a:ext cx="2842895" cy="558165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5"/>
          <p:cNvSpPr/>
          <p:nvPr/>
        </p:nvSpPr>
        <p:spPr>
          <a:xfrm rot="2700000">
            <a:off x="189865" y="121920"/>
            <a:ext cx="513080" cy="520065"/>
          </a:xfrm>
          <a:prstGeom prst="roundRect">
            <a:avLst/>
          </a:prstGeom>
          <a:solidFill>
            <a:srgbClr val="092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3745" y="151765"/>
            <a:ext cx="3107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团队合作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8e83ff3f-cf42-424b-b772-a1c0273321ab}"/>
  <p:tag name="TABLE_ENDDRAG_ORIGIN_RECT" val="471*163"/>
  <p:tag name="TABLE_ENDDRAG_RECT" val="231*282*471*163"/>
</p:tagLst>
</file>

<file path=ppt/tags/tag2.xml><?xml version="1.0" encoding="utf-8"?>
<p:tagLst xmlns:p="http://schemas.openxmlformats.org/presentationml/2006/main">
  <p:tag name="COMMONDATA" val="eyJoZGlkIjoiZjBmZjk0YTMxMmJiNzY4NDBlNjhiYmU0MTRlYWRiZjQifQ=="/>
  <p:tag name="KSO_WPP_MARK_KEY" val="f3109a1f-e74d-4db5-b2d5-b93f456990e6"/>
  <p:tag name="commondata" val="eyJoZGlkIjoiNTcxYjEyN2ZkNmJmOTBhYWM3YTFhNjQxNWNmNWFiM2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WPS 演示</Application>
  <PresentationFormat>宽屏</PresentationFormat>
  <Paragraphs>131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裕宁</dc:creator>
  <cp:lastModifiedBy>璇</cp:lastModifiedBy>
  <cp:revision>483</cp:revision>
  <dcterms:created xsi:type="dcterms:W3CDTF">2020-08-31T15:22:00Z</dcterms:created>
  <dcterms:modified xsi:type="dcterms:W3CDTF">2026-06-21T17:29:07Z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B9297E2CD3884A7FB566DECFB8259FA4_13</vt:lpwstr>
  </property>
</Properties>
</file>